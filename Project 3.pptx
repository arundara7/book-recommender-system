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01" r:id="rId6"/>
    <p:sldId id="303" r:id="rId7"/>
    <p:sldId id="302"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2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5/17/2023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5/17/2023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5/17/2023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5/17/2023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5/17/2023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5/17/2023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5/17/2023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5/17/2023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5/17/2023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5/17/2023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273" y="0"/>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076033" y="2441198"/>
            <a:ext cx="3309074" cy="1360771"/>
          </a:xfrm>
        </p:spPr>
        <p:txBody>
          <a:bodyPr anchor="b">
            <a:normAutofit/>
          </a:bodyPr>
          <a:lstStyle/>
          <a:p>
            <a:pPr algn="ctr"/>
            <a:r>
              <a:rPr lang="en-US" sz="2800" dirty="0">
                <a:solidFill>
                  <a:schemeClr val="tx1"/>
                </a:solidFill>
              </a:rPr>
              <a:t>Book Recommendation System</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850523"/>
          </a:xfrm>
        </p:spPr>
        <p:txBody>
          <a:bodyPr anchor="t">
            <a:normAutofit fontScale="85000" lnSpcReduction="20000"/>
          </a:bodyPr>
          <a:lstStyle/>
          <a:p>
            <a:pPr algn="ctr">
              <a:lnSpc>
                <a:spcPct val="100000"/>
              </a:lnSpc>
            </a:pPr>
            <a:r>
              <a:rPr lang="en-US" sz="1700" dirty="0"/>
              <a:t>Mentor’s name:</a:t>
            </a:r>
          </a:p>
          <a:p>
            <a:pPr algn="ctr">
              <a:lnSpc>
                <a:spcPct val="100000"/>
              </a:lnSpc>
            </a:pPr>
            <a:r>
              <a:rPr lang="en-US" sz="1600" dirty="0"/>
              <a:t> </a:t>
            </a:r>
            <a:r>
              <a:rPr lang="en-IN" sz="1600" b="0" i="0" dirty="0" err="1">
                <a:effectLst/>
                <a:latin typeface="Franklin Gothic Medium" panose="020B0603020102020204" pitchFamily="34" charset="0"/>
              </a:rPr>
              <a:t>karthik</a:t>
            </a:r>
            <a:r>
              <a:rPr lang="en-IN" sz="1600" b="0" i="0" dirty="0">
                <a:effectLst/>
                <a:latin typeface="Franklin Gothic Medium" panose="020B0603020102020204" pitchFamily="34" charset="0"/>
              </a:rPr>
              <a:t> </a:t>
            </a:r>
            <a:r>
              <a:rPr lang="en-IN" sz="1600" b="0" i="0" dirty="0" err="1">
                <a:effectLst/>
                <a:latin typeface="Franklin Gothic Medium" panose="020B0603020102020204" pitchFamily="34" charset="0"/>
              </a:rPr>
              <a:t>muskula</a:t>
            </a:r>
            <a:r>
              <a:rPr lang="en-IN" sz="1600" b="0" i="0" dirty="0">
                <a:effectLst/>
                <a:latin typeface="Franklin Gothic Medium" panose="020B0603020102020204" pitchFamily="34" charset="0"/>
              </a:rPr>
              <a:t> &amp; </a:t>
            </a:r>
            <a:r>
              <a:rPr lang="en-IN" sz="1600" b="1" i="0" dirty="0" err="1">
                <a:effectLst/>
                <a:latin typeface="Franklin Gothic Medium" panose="020B0603020102020204" pitchFamily="34" charset="0"/>
              </a:rPr>
              <a:t>dhanyapriya</a:t>
            </a:r>
            <a:endParaRPr lang="en-IN" sz="1600" b="1" i="0" dirty="0">
              <a:effectLst/>
              <a:latin typeface="Franklin Gothic Medium" panose="020B0603020102020204" pitchFamily="34" charset="0"/>
            </a:endParaRPr>
          </a:p>
          <a:p>
            <a:pPr algn="ctr">
              <a:lnSpc>
                <a:spcPct val="100000"/>
              </a:lnSpc>
            </a:pPr>
            <a:endParaRPr lang="en-US" sz="1600" dirty="0"/>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BB92D3A3-1376-F3A8-C931-08512346C07C}"/>
              </a:ext>
            </a:extLst>
          </p:cNvPr>
          <p:cNvSpPr/>
          <p:nvPr/>
        </p:nvSpPr>
        <p:spPr>
          <a:xfrm>
            <a:off x="0" y="3945962"/>
            <a:ext cx="4679160" cy="24538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lnSpc>
                <a:spcPct val="100000"/>
              </a:lnSpc>
            </a:pPr>
            <a:r>
              <a:rPr lang="en-US" sz="2400" b="1" dirty="0">
                <a:latin typeface="+mj-lt"/>
              </a:rPr>
              <a:t>Team-1</a:t>
            </a:r>
          </a:p>
          <a:p>
            <a:pPr marL="0" indent="0" algn="ctr">
              <a:lnSpc>
                <a:spcPct val="100000"/>
              </a:lnSpc>
              <a:buNone/>
            </a:pPr>
            <a:r>
              <a:rPr lang="en-US" sz="1800" i="1" dirty="0" err="1">
                <a:solidFill>
                  <a:schemeClr val="tx1"/>
                </a:solidFill>
                <a:latin typeface="+mj-lt"/>
                <a:cs typeface="Arial" panose="020B0604020202020204" pitchFamily="34" charset="0"/>
              </a:rPr>
              <a:t>Medidi</a:t>
            </a:r>
            <a:r>
              <a:rPr lang="en-US" sz="1800" i="1" dirty="0">
                <a:solidFill>
                  <a:schemeClr val="tx1"/>
                </a:solidFill>
                <a:latin typeface="+mj-lt"/>
                <a:cs typeface="Arial" panose="020B0604020202020204" pitchFamily="34" charset="0"/>
              </a:rPr>
              <a:t> Jayanth Rama Krishna</a:t>
            </a:r>
          </a:p>
          <a:p>
            <a:pPr marL="0" indent="0" algn="ctr">
              <a:lnSpc>
                <a:spcPct val="100000"/>
              </a:lnSpc>
              <a:buNone/>
            </a:pPr>
            <a:r>
              <a:rPr lang="en-US" sz="1800" i="1" dirty="0" err="1">
                <a:solidFill>
                  <a:schemeClr val="tx1"/>
                </a:solidFill>
                <a:latin typeface="+mj-lt"/>
                <a:cs typeface="Arial" panose="020B0604020202020204" pitchFamily="34" charset="0"/>
              </a:rPr>
              <a:t>Konka</a:t>
            </a:r>
            <a:r>
              <a:rPr lang="en-US" sz="1800" i="1" dirty="0">
                <a:solidFill>
                  <a:schemeClr val="tx1"/>
                </a:solidFill>
                <a:latin typeface="+mj-lt"/>
                <a:cs typeface="Arial" panose="020B0604020202020204" pitchFamily="34" charset="0"/>
              </a:rPr>
              <a:t> Rohan</a:t>
            </a:r>
          </a:p>
          <a:p>
            <a:pPr marL="0" indent="0" algn="ctr">
              <a:lnSpc>
                <a:spcPct val="100000"/>
              </a:lnSpc>
              <a:buNone/>
            </a:pPr>
            <a:r>
              <a:rPr lang="en-US" sz="1800" i="1" dirty="0">
                <a:solidFill>
                  <a:schemeClr val="tx1"/>
                </a:solidFill>
                <a:latin typeface="+mj-lt"/>
                <a:cs typeface="Arial" panose="020B0604020202020204" pitchFamily="34" charset="0"/>
              </a:rPr>
              <a:t>Uzra Furqan</a:t>
            </a:r>
          </a:p>
          <a:p>
            <a:pPr marL="0" indent="0" algn="ctr">
              <a:lnSpc>
                <a:spcPct val="100000"/>
              </a:lnSpc>
              <a:buNone/>
            </a:pPr>
            <a:r>
              <a:rPr lang="en-US" sz="1800" i="1" dirty="0">
                <a:solidFill>
                  <a:schemeClr val="tx1"/>
                </a:solidFill>
                <a:latin typeface="+mj-lt"/>
                <a:cs typeface="Arial" panose="020B0604020202020204" pitchFamily="34" charset="0"/>
              </a:rPr>
              <a:t>Dara Arjun Kumar</a:t>
            </a:r>
          </a:p>
          <a:p>
            <a:pPr marL="0" indent="0" algn="ctr">
              <a:lnSpc>
                <a:spcPct val="100000"/>
              </a:lnSpc>
              <a:buNone/>
            </a:pPr>
            <a:r>
              <a:rPr lang="en-US" sz="1800" i="1" dirty="0" err="1">
                <a:solidFill>
                  <a:schemeClr val="tx1"/>
                </a:solidFill>
                <a:latin typeface="+mj-lt"/>
                <a:cs typeface="Arial" panose="020B0604020202020204" pitchFamily="34" charset="0"/>
              </a:rPr>
              <a:t>Neehan</a:t>
            </a:r>
            <a:r>
              <a:rPr lang="en-US" sz="1800" i="1" dirty="0">
                <a:solidFill>
                  <a:schemeClr val="tx1"/>
                </a:solidFill>
                <a:latin typeface="+mj-lt"/>
                <a:cs typeface="Arial" panose="020B0604020202020204" pitchFamily="34" charset="0"/>
              </a:rPr>
              <a:t> Viren Aiya</a:t>
            </a:r>
          </a:p>
          <a:p>
            <a:pPr marL="0" indent="0" algn="ctr">
              <a:lnSpc>
                <a:spcPct val="100000"/>
              </a:lnSpc>
              <a:buNone/>
            </a:pPr>
            <a:r>
              <a:rPr lang="en-US" sz="1800" i="1" dirty="0" err="1">
                <a:solidFill>
                  <a:schemeClr val="tx1"/>
                </a:solidFill>
                <a:latin typeface="+mj-lt"/>
                <a:cs typeface="Arial" panose="020B0604020202020204" pitchFamily="34" charset="0"/>
              </a:rPr>
              <a:t>Ventatesh</a:t>
            </a:r>
            <a:r>
              <a:rPr lang="en-US" sz="1800" i="1" dirty="0">
                <a:solidFill>
                  <a:schemeClr val="tx1"/>
                </a:solidFill>
                <a:latin typeface="+mj-lt"/>
                <a:cs typeface="Arial" panose="020B0604020202020204" pitchFamily="34" charset="0"/>
              </a:rPr>
              <a:t> </a:t>
            </a:r>
            <a:r>
              <a:rPr lang="en-US" sz="1800" i="1" dirty="0" err="1">
                <a:solidFill>
                  <a:schemeClr val="tx1"/>
                </a:solidFill>
                <a:latin typeface="+mj-lt"/>
                <a:cs typeface="Arial" panose="020B0604020202020204" pitchFamily="34" charset="0"/>
              </a:rPr>
              <a:t>Salmeta</a:t>
            </a:r>
            <a:endParaRPr lang="en-US" sz="1800" i="1" dirty="0">
              <a:solidFill>
                <a:schemeClr val="tx1"/>
              </a:solidFill>
              <a:latin typeface="+mj-lt"/>
              <a:cs typeface="Arial" panose="020B0604020202020204" pitchFamily="34" charset="0"/>
            </a:endParaRPr>
          </a:p>
          <a:p>
            <a:pPr algn="ctr">
              <a:lnSpc>
                <a:spcPct val="100000"/>
              </a:lnSpc>
            </a:pPr>
            <a:endParaRPr lang="en-US" sz="1800" dirty="0"/>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674B-C09B-3C38-67D3-C09D2F8EC14A}"/>
              </a:ext>
            </a:extLst>
          </p:cNvPr>
          <p:cNvSpPr>
            <a:spLocks noGrp="1"/>
          </p:cNvSpPr>
          <p:nvPr>
            <p:ph type="title"/>
          </p:nvPr>
        </p:nvSpPr>
        <p:spPr>
          <a:xfrm>
            <a:off x="906211" y="791571"/>
            <a:ext cx="10058400" cy="900752"/>
          </a:xfrm>
        </p:spPr>
        <p:txBody>
          <a:bodyPr/>
          <a:lstStyle/>
          <a:p>
            <a:r>
              <a:rPr lang="en-US" dirty="0"/>
              <a:t> Datasets Overview</a:t>
            </a:r>
            <a:endParaRPr lang="en-IN" dirty="0"/>
          </a:p>
        </p:txBody>
      </p:sp>
      <p:pic>
        <p:nvPicPr>
          <p:cNvPr id="5" name="Content Placeholder 4">
            <a:extLst>
              <a:ext uri="{FF2B5EF4-FFF2-40B4-BE49-F238E27FC236}">
                <a16:creationId xmlns:a16="http://schemas.microsoft.com/office/drawing/2014/main" id="{D2B4FE7D-C7AB-38B0-9E54-96794DCFB898}"/>
              </a:ext>
            </a:extLst>
          </p:cNvPr>
          <p:cNvPicPr>
            <a:picLocks noGrp="1" noChangeAspect="1"/>
          </p:cNvPicPr>
          <p:nvPr>
            <p:ph idx="1"/>
          </p:nvPr>
        </p:nvPicPr>
        <p:blipFill>
          <a:blip r:embed="rId2"/>
          <a:stretch>
            <a:fillRect/>
          </a:stretch>
        </p:blipFill>
        <p:spPr>
          <a:xfrm>
            <a:off x="837457" y="2126733"/>
            <a:ext cx="10517086" cy="1636269"/>
          </a:xfrm>
        </p:spPr>
      </p:pic>
      <p:pic>
        <p:nvPicPr>
          <p:cNvPr id="7" name="Picture 6">
            <a:extLst>
              <a:ext uri="{FF2B5EF4-FFF2-40B4-BE49-F238E27FC236}">
                <a16:creationId xmlns:a16="http://schemas.microsoft.com/office/drawing/2014/main" id="{D43C69DA-7300-E5FC-2269-DF3FF9CE5308}"/>
              </a:ext>
            </a:extLst>
          </p:cNvPr>
          <p:cNvPicPr>
            <a:picLocks noChangeAspect="1"/>
          </p:cNvPicPr>
          <p:nvPr/>
        </p:nvPicPr>
        <p:blipFill>
          <a:blip r:embed="rId3"/>
          <a:stretch>
            <a:fillRect/>
          </a:stretch>
        </p:blipFill>
        <p:spPr>
          <a:xfrm>
            <a:off x="837457" y="3940422"/>
            <a:ext cx="4062089" cy="2082681"/>
          </a:xfrm>
          <a:prstGeom prst="rect">
            <a:avLst/>
          </a:prstGeom>
        </p:spPr>
      </p:pic>
    </p:spTree>
    <p:extLst>
      <p:ext uri="{BB962C8B-B14F-4D97-AF65-F5344CB8AC3E}">
        <p14:creationId xmlns:p14="http://schemas.microsoft.com/office/powerpoint/2010/main" val="1107220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2B7A-229F-6738-FA52-1E7B53FA4C40}"/>
              </a:ext>
            </a:extLst>
          </p:cNvPr>
          <p:cNvSpPr>
            <a:spLocks noGrp="1"/>
          </p:cNvSpPr>
          <p:nvPr>
            <p:ph type="title"/>
          </p:nvPr>
        </p:nvSpPr>
        <p:spPr/>
        <p:txBody>
          <a:bodyPr/>
          <a:lstStyle/>
          <a:p>
            <a:r>
              <a:rPr lang="en-US" dirty="0"/>
              <a:t>Operations on dataset</a:t>
            </a:r>
            <a:endParaRPr lang="en-IN" dirty="0"/>
          </a:p>
        </p:txBody>
      </p:sp>
      <p:pic>
        <p:nvPicPr>
          <p:cNvPr id="17" name="Content Placeholder 16">
            <a:extLst>
              <a:ext uri="{FF2B5EF4-FFF2-40B4-BE49-F238E27FC236}">
                <a16:creationId xmlns:a16="http://schemas.microsoft.com/office/drawing/2014/main" id="{44DE5313-0FEF-F56F-7790-656905438E4C}"/>
              </a:ext>
            </a:extLst>
          </p:cNvPr>
          <p:cNvPicPr>
            <a:picLocks noGrp="1" noChangeAspect="1"/>
          </p:cNvPicPr>
          <p:nvPr>
            <p:ph idx="1"/>
          </p:nvPr>
        </p:nvPicPr>
        <p:blipFill>
          <a:blip r:embed="rId2"/>
          <a:stretch>
            <a:fillRect/>
          </a:stretch>
        </p:blipFill>
        <p:spPr>
          <a:xfrm>
            <a:off x="1744633" y="2095314"/>
            <a:ext cx="3414221" cy="1852678"/>
          </a:xfrm>
        </p:spPr>
      </p:pic>
      <p:pic>
        <p:nvPicPr>
          <p:cNvPr id="19" name="Picture 18">
            <a:extLst>
              <a:ext uri="{FF2B5EF4-FFF2-40B4-BE49-F238E27FC236}">
                <a16:creationId xmlns:a16="http://schemas.microsoft.com/office/drawing/2014/main" id="{BF8CD36A-972A-7EA8-DCFB-BE2B3A5756F0}"/>
              </a:ext>
            </a:extLst>
          </p:cNvPr>
          <p:cNvPicPr>
            <a:picLocks noChangeAspect="1"/>
          </p:cNvPicPr>
          <p:nvPr/>
        </p:nvPicPr>
        <p:blipFill>
          <a:blip r:embed="rId3"/>
          <a:stretch>
            <a:fillRect/>
          </a:stretch>
        </p:blipFill>
        <p:spPr>
          <a:xfrm>
            <a:off x="6320758" y="2080449"/>
            <a:ext cx="4338144" cy="1867543"/>
          </a:xfrm>
          <a:prstGeom prst="rect">
            <a:avLst/>
          </a:prstGeom>
        </p:spPr>
      </p:pic>
      <p:pic>
        <p:nvPicPr>
          <p:cNvPr id="21" name="Picture 20">
            <a:extLst>
              <a:ext uri="{FF2B5EF4-FFF2-40B4-BE49-F238E27FC236}">
                <a16:creationId xmlns:a16="http://schemas.microsoft.com/office/drawing/2014/main" id="{574053B4-88A6-447E-58F8-00709740D05E}"/>
              </a:ext>
            </a:extLst>
          </p:cNvPr>
          <p:cNvPicPr>
            <a:picLocks noChangeAspect="1"/>
          </p:cNvPicPr>
          <p:nvPr/>
        </p:nvPicPr>
        <p:blipFill>
          <a:blip r:embed="rId4"/>
          <a:stretch>
            <a:fillRect/>
          </a:stretch>
        </p:blipFill>
        <p:spPr>
          <a:xfrm>
            <a:off x="1378424" y="4305945"/>
            <a:ext cx="9736139" cy="1473232"/>
          </a:xfrm>
          <a:prstGeom prst="rect">
            <a:avLst/>
          </a:prstGeom>
        </p:spPr>
      </p:pic>
    </p:spTree>
    <p:extLst>
      <p:ext uri="{BB962C8B-B14F-4D97-AF65-F5344CB8AC3E}">
        <p14:creationId xmlns:p14="http://schemas.microsoft.com/office/powerpoint/2010/main" val="17355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8E0A1-78D7-ECFE-6D72-F555C7DCA11C}"/>
              </a:ext>
            </a:extLst>
          </p:cNvPr>
          <p:cNvSpPr>
            <a:spLocks noGrp="1"/>
          </p:cNvSpPr>
          <p:nvPr>
            <p:ph type="title"/>
          </p:nvPr>
        </p:nvSpPr>
        <p:spPr>
          <a:xfrm>
            <a:off x="1192814" y="504967"/>
            <a:ext cx="10058400" cy="1282890"/>
          </a:xfrm>
        </p:spPr>
        <p:txBody>
          <a:bodyPr/>
          <a:lstStyle/>
          <a:p>
            <a:r>
              <a:rPr lang="en-US" dirty="0"/>
              <a:t>Details of datasets</a:t>
            </a:r>
            <a:endParaRPr lang="en-IN" dirty="0"/>
          </a:p>
        </p:txBody>
      </p:sp>
      <p:pic>
        <p:nvPicPr>
          <p:cNvPr id="5" name="Content Placeholder 4">
            <a:extLst>
              <a:ext uri="{FF2B5EF4-FFF2-40B4-BE49-F238E27FC236}">
                <a16:creationId xmlns:a16="http://schemas.microsoft.com/office/drawing/2014/main" id="{D9B3F00C-A31F-FF10-9183-093195CD798A}"/>
              </a:ext>
            </a:extLst>
          </p:cNvPr>
          <p:cNvPicPr>
            <a:picLocks noGrp="1" noChangeAspect="1"/>
          </p:cNvPicPr>
          <p:nvPr>
            <p:ph idx="1"/>
          </p:nvPr>
        </p:nvPicPr>
        <p:blipFill>
          <a:blip r:embed="rId2"/>
          <a:stretch>
            <a:fillRect/>
          </a:stretch>
        </p:blipFill>
        <p:spPr>
          <a:xfrm>
            <a:off x="1847907" y="1998225"/>
            <a:ext cx="4137133" cy="1741262"/>
          </a:xfrm>
        </p:spPr>
      </p:pic>
      <p:pic>
        <p:nvPicPr>
          <p:cNvPr id="7" name="Picture 6">
            <a:extLst>
              <a:ext uri="{FF2B5EF4-FFF2-40B4-BE49-F238E27FC236}">
                <a16:creationId xmlns:a16="http://schemas.microsoft.com/office/drawing/2014/main" id="{D75D4DC5-1107-E4AA-3327-9F3D4B7CCEA8}"/>
              </a:ext>
            </a:extLst>
          </p:cNvPr>
          <p:cNvPicPr>
            <a:picLocks noChangeAspect="1"/>
          </p:cNvPicPr>
          <p:nvPr/>
        </p:nvPicPr>
        <p:blipFill>
          <a:blip r:embed="rId3"/>
          <a:stretch>
            <a:fillRect/>
          </a:stretch>
        </p:blipFill>
        <p:spPr>
          <a:xfrm>
            <a:off x="7246961" y="1998225"/>
            <a:ext cx="2038233" cy="4249199"/>
          </a:xfrm>
          <a:prstGeom prst="rect">
            <a:avLst/>
          </a:prstGeom>
        </p:spPr>
      </p:pic>
      <p:pic>
        <p:nvPicPr>
          <p:cNvPr id="9" name="Picture 8">
            <a:extLst>
              <a:ext uri="{FF2B5EF4-FFF2-40B4-BE49-F238E27FC236}">
                <a16:creationId xmlns:a16="http://schemas.microsoft.com/office/drawing/2014/main" id="{92B5480C-B9CA-A291-31C8-2FBDB688DEE6}"/>
              </a:ext>
            </a:extLst>
          </p:cNvPr>
          <p:cNvPicPr>
            <a:picLocks noChangeAspect="1"/>
          </p:cNvPicPr>
          <p:nvPr/>
        </p:nvPicPr>
        <p:blipFill>
          <a:blip r:embed="rId4"/>
          <a:stretch>
            <a:fillRect/>
          </a:stretch>
        </p:blipFill>
        <p:spPr>
          <a:xfrm>
            <a:off x="1847907" y="3949855"/>
            <a:ext cx="4034278" cy="2297569"/>
          </a:xfrm>
          <a:prstGeom prst="rect">
            <a:avLst/>
          </a:prstGeom>
        </p:spPr>
      </p:pic>
    </p:spTree>
    <p:extLst>
      <p:ext uri="{BB962C8B-B14F-4D97-AF65-F5344CB8AC3E}">
        <p14:creationId xmlns:p14="http://schemas.microsoft.com/office/powerpoint/2010/main" val="2563854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3A05-4CFB-02D0-42FE-9CA248605131}"/>
              </a:ext>
            </a:extLst>
          </p:cNvPr>
          <p:cNvSpPr>
            <a:spLocks noGrp="1"/>
          </p:cNvSpPr>
          <p:nvPr>
            <p:ph type="title"/>
          </p:nvPr>
        </p:nvSpPr>
        <p:spPr/>
        <p:txBody>
          <a:bodyPr/>
          <a:lstStyle/>
          <a:p>
            <a:r>
              <a:rPr lang="en-US" dirty="0"/>
              <a:t>User Dataset</a:t>
            </a:r>
            <a:endParaRPr lang="en-IN" dirty="0"/>
          </a:p>
        </p:txBody>
      </p:sp>
      <p:pic>
        <p:nvPicPr>
          <p:cNvPr id="5" name="Content Placeholder 4">
            <a:extLst>
              <a:ext uri="{FF2B5EF4-FFF2-40B4-BE49-F238E27FC236}">
                <a16:creationId xmlns:a16="http://schemas.microsoft.com/office/drawing/2014/main" id="{01854DBE-6356-7BB0-FA97-9C4A1967F8E3}"/>
              </a:ext>
            </a:extLst>
          </p:cNvPr>
          <p:cNvPicPr>
            <a:picLocks noGrp="1" noChangeAspect="1"/>
          </p:cNvPicPr>
          <p:nvPr>
            <p:ph idx="1"/>
          </p:nvPr>
        </p:nvPicPr>
        <p:blipFill>
          <a:blip r:embed="rId2"/>
          <a:stretch>
            <a:fillRect/>
          </a:stretch>
        </p:blipFill>
        <p:spPr>
          <a:xfrm>
            <a:off x="1097280" y="2039962"/>
            <a:ext cx="5136206" cy="3937758"/>
          </a:xfrm>
        </p:spPr>
      </p:pic>
      <p:pic>
        <p:nvPicPr>
          <p:cNvPr id="7" name="Picture 6">
            <a:extLst>
              <a:ext uri="{FF2B5EF4-FFF2-40B4-BE49-F238E27FC236}">
                <a16:creationId xmlns:a16="http://schemas.microsoft.com/office/drawing/2014/main" id="{BC3E5CA7-DCDC-46A3-619D-AEA64D28973F}"/>
              </a:ext>
            </a:extLst>
          </p:cNvPr>
          <p:cNvPicPr>
            <a:picLocks noChangeAspect="1"/>
          </p:cNvPicPr>
          <p:nvPr/>
        </p:nvPicPr>
        <p:blipFill>
          <a:blip r:embed="rId3"/>
          <a:stretch>
            <a:fillRect/>
          </a:stretch>
        </p:blipFill>
        <p:spPr>
          <a:xfrm>
            <a:off x="6387152" y="2039962"/>
            <a:ext cx="4958659" cy="3979028"/>
          </a:xfrm>
          <a:prstGeom prst="rect">
            <a:avLst/>
          </a:prstGeom>
        </p:spPr>
      </p:pic>
    </p:spTree>
    <p:extLst>
      <p:ext uri="{BB962C8B-B14F-4D97-AF65-F5344CB8AC3E}">
        <p14:creationId xmlns:p14="http://schemas.microsoft.com/office/powerpoint/2010/main" val="2736144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A1957-9504-B925-9D29-D152334DBBD1}"/>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7A0EE6CD-1239-11B4-627E-EF28FFC1B2A2}"/>
              </a:ext>
            </a:extLst>
          </p:cNvPr>
          <p:cNvPicPr>
            <a:picLocks noGrp="1" noChangeAspect="1"/>
          </p:cNvPicPr>
          <p:nvPr>
            <p:ph idx="1"/>
          </p:nvPr>
        </p:nvPicPr>
        <p:blipFill>
          <a:blip r:embed="rId2"/>
          <a:stretch>
            <a:fillRect/>
          </a:stretch>
        </p:blipFill>
        <p:spPr>
          <a:xfrm>
            <a:off x="1097280" y="1978926"/>
            <a:ext cx="5699305" cy="1992573"/>
          </a:xfrm>
        </p:spPr>
      </p:pic>
      <p:pic>
        <p:nvPicPr>
          <p:cNvPr id="7" name="Picture 6">
            <a:extLst>
              <a:ext uri="{FF2B5EF4-FFF2-40B4-BE49-F238E27FC236}">
                <a16:creationId xmlns:a16="http://schemas.microsoft.com/office/drawing/2014/main" id="{F372443E-66AB-0D4B-45C6-D3B5C524C773}"/>
              </a:ext>
            </a:extLst>
          </p:cNvPr>
          <p:cNvPicPr>
            <a:picLocks noChangeAspect="1"/>
          </p:cNvPicPr>
          <p:nvPr/>
        </p:nvPicPr>
        <p:blipFill>
          <a:blip r:embed="rId3"/>
          <a:stretch>
            <a:fillRect/>
          </a:stretch>
        </p:blipFill>
        <p:spPr>
          <a:xfrm>
            <a:off x="6819331" y="1978926"/>
            <a:ext cx="5077534" cy="3807725"/>
          </a:xfrm>
          <a:prstGeom prst="rect">
            <a:avLst/>
          </a:prstGeom>
        </p:spPr>
      </p:pic>
      <p:sp>
        <p:nvSpPr>
          <p:cNvPr id="8" name="TextBox 7">
            <a:extLst>
              <a:ext uri="{FF2B5EF4-FFF2-40B4-BE49-F238E27FC236}">
                <a16:creationId xmlns:a16="http://schemas.microsoft.com/office/drawing/2014/main" id="{F10BB1F6-F273-565B-70A0-2212DA5D2F22}"/>
              </a:ext>
            </a:extLst>
          </p:cNvPr>
          <p:cNvSpPr txBox="1"/>
          <p:nvPr/>
        </p:nvSpPr>
        <p:spPr>
          <a:xfrm>
            <a:off x="1097280" y="4722126"/>
            <a:ext cx="5385407" cy="923330"/>
          </a:xfrm>
          <a:prstGeom prst="rect">
            <a:avLst/>
          </a:prstGeom>
          <a:noFill/>
        </p:spPr>
        <p:txBody>
          <a:bodyPr wrap="square" rtlCol="0">
            <a:spAutoFit/>
          </a:bodyPr>
          <a:lstStyle/>
          <a:p>
            <a:r>
              <a:rPr lang="en-US" i="1" dirty="0">
                <a:solidFill>
                  <a:srgbClr val="000000"/>
                </a:solidFill>
                <a:effectLst/>
                <a:latin typeface="Helvetica Neue"/>
              </a:rPr>
              <a:t>57339 unique Value it's really hard to understand</a:t>
            </a:r>
            <a:r>
              <a:rPr lang="en-US" i="0" dirty="0">
                <a:solidFill>
                  <a:srgbClr val="000000"/>
                </a:solidFill>
                <a:effectLst/>
                <a:latin typeface="Helvetica Neue"/>
              </a:rPr>
              <a:t> </a:t>
            </a:r>
            <a:r>
              <a:rPr lang="en-US" i="1" dirty="0">
                <a:solidFill>
                  <a:srgbClr val="000000"/>
                </a:solidFill>
                <a:effectLst/>
                <a:latin typeface="Helvetica Neue"/>
              </a:rPr>
              <a:t>So we create Country column and drop location column</a:t>
            </a:r>
            <a:endParaRPr lang="en-IN" dirty="0"/>
          </a:p>
        </p:txBody>
      </p:sp>
    </p:spTree>
    <p:extLst>
      <p:ext uri="{BB962C8B-B14F-4D97-AF65-F5344CB8AC3E}">
        <p14:creationId xmlns:p14="http://schemas.microsoft.com/office/powerpoint/2010/main" val="892177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5698-F324-AD05-69BC-168492706A93}"/>
              </a:ext>
            </a:extLst>
          </p:cNvPr>
          <p:cNvSpPr>
            <a:spLocks noGrp="1"/>
          </p:cNvSpPr>
          <p:nvPr>
            <p:ph type="title"/>
          </p:nvPr>
        </p:nvSpPr>
        <p:spPr/>
        <p:txBody>
          <a:bodyPr/>
          <a:lstStyle/>
          <a:p>
            <a:r>
              <a:rPr lang="en-US" dirty="0"/>
              <a:t>Country-wise user count</a:t>
            </a:r>
            <a:endParaRPr lang="en-IN" dirty="0"/>
          </a:p>
        </p:txBody>
      </p:sp>
      <p:pic>
        <p:nvPicPr>
          <p:cNvPr id="5" name="Content Placeholder 4">
            <a:extLst>
              <a:ext uri="{FF2B5EF4-FFF2-40B4-BE49-F238E27FC236}">
                <a16:creationId xmlns:a16="http://schemas.microsoft.com/office/drawing/2014/main" id="{96AF2093-0F02-730F-2DA8-2C61991E88E1}"/>
              </a:ext>
            </a:extLst>
          </p:cNvPr>
          <p:cNvPicPr>
            <a:picLocks noGrp="1" noChangeAspect="1"/>
          </p:cNvPicPr>
          <p:nvPr>
            <p:ph idx="1"/>
          </p:nvPr>
        </p:nvPicPr>
        <p:blipFill>
          <a:blip r:embed="rId2"/>
          <a:stretch>
            <a:fillRect/>
          </a:stretch>
        </p:blipFill>
        <p:spPr>
          <a:xfrm>
            <a:off x="1392072" y="1965278"/>
            <a:ext cx="9498841" cy="4312692"/>
          </a:xfrm>
        </p:spPr>
      </p:pic>
    </p:spTree>
    <p:extLst>
      <p:ext uri="{BB962C8B-B14F-4D97-AF65-F5344CB8AC3E}">
        <p14:creationId xmlns:p14="http://schemas.microsoft.com/office/powerpoint/2010/main" val="327237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98937-6C19-F6EB-68F9-40D5866CFA81}"/>
              </a:ext>
            </a:extLst>
          </p:cNvPr>
          <p:cNvSpPr>
            <a:spLocks noGrp="1"/>
          </p:cNvSpPr>
          <p:nvPr>
            <p:ph type="title"/>
          </p:nvPr>
        </p:nvSpPr>
        <p:spPr/>
        <p:txBody>
          <a:bodyPr/>
          <a:lstStyle/>
          <a:p>
            <a:r>
              <a:rPr lang="en-US" dirty="0"/>
              <a:t>Age distribution Plot</a:t>
            </a:r>
            <a:endParaRPr lang="en-IN" dirty="0"/>
          </a:p>
        </p:txBody>
      </p:sp>
      <p:pic>
        <p:nvPicPr>
          <p:cNvPr id="5" name="Content Placeholder 4">
            <a:extLst>
              <a:ext uri="{FF2B5EF4-FFF2-40B4-BE49-F238E27FC236}">
                <a16:creationId xmlns:a16="http://schemas.microsoft.com/office/drawing/2014/main" id="{7B133D82-442D-6A9C-7F61-735BA1B6EA87}"/>
              </a:ext>
            </a:extLst>
          </p:cNvPr>
          <p:cNvPicPr>
            <a:picLocks noGrp="1" noChangeAspect="1"/>
          </p:cNvPicPr>
          <p:nvPr>
            <p:ph idx="1"/>
          </p:nvPr>
        </p:nvPicPr>
        <p:blipFill>
          <a:blip r:embed="rId2"/>
          <a:stretch>
            <a:fillRect/>
          </a:stretch>
        </p:blipFill>
        <p:spPr>
          <a:xfrm>
            <a:off x="5707705" y="1958074"/>
            <a:ext cx="5447975" cy="4255283"/>
          </a:xfrm>
        </p:spPr>
      </p:pic>
      <p:sp>
        <p:nvSpPr>
          <p:cNvPr id="6" name="TextBox 5">
            <a:extLst>
              <a:ext uri="{FF2B5EF4-FFF2-40B4-BE49-F238E27FC236}">
                <a16:creationId xmlns:a16="http://schemas.microsoft.com/office/drawing/2014/main" id="{EE182A7E-51B3-D6F3-801C-31E585D601F4}"/>
              </a:ext>
            </a:extLst>
          </p:cNvPr>
          <p:cNvSpPr txBox="1"/>
          <p:nvPr/>
        </p:nvSpPr>
        <p:spPr>
          <a:xfrm>
            <a:off x="1097280" y="2088107"/>
            <a:ext cx="4047926" cy="2862322"/>
          </a:xfrm>
          <a:prstGeom prst="rect">
            <a:avLst/>
          </a:prstGeom>
          <a:noFill/>
        </p:spPr>
        <p:txBody>
          <a:bodyPr wrap="square" rtlCol="0">
            <a:spAutoFit/>
          </a:bodyPr>
          <a:lstStyle/>
          <a:p>
            <a:pPr marL="285750" indent="-285750">
              <a:buFont typeface="Arial" panose="020B0604020202020204" pitchFamily="34" charset="0"/>
              <a:buChar char="•"/>
            </a:pPr>
            <a:r>
              <a:rPr lang="en-US" i="1" dirty="0">
                <a:solidFill>
                  <a:srgbClr val="000000"/>
                </a:solidFill>
                <a:effectLst/>
                <a:latin typeface="Helvetica Neue"/>
              </a:rPr>
              <a:t>Age value's below 5 and above 80 do not make much sense for our book rating case, hence we can replace these by </a:t>
            </a:r>
            <a:r>
              <a:rPr lang="en-US" i="1" dirty="0" err="1">
                <a:solidFill>
                  <a:srgbClr val="000000"/>
                </a:solidFill>
                <a:effectLst/>
                <a:latin typeface="Helvetica Neue"/>
              </a:rPr>
              <a:t>NaN</a:t>
            </a:r>
            <a:r>
              <a:rPr lang="en-US" i="1" dirty="0">
                <a:solidFill>
                  <a:srgbClr val="000000"/>
                </a:solidFill>
                <a:effectLst/>
                <a:latin typeface="Helvetica Neue"/>
              </a:rPr>
              <a:t>.</a:t>
            </a:r>
          </a:p>
          <a:p>
            <a:pPr marL="285750" indent="-285750">
              <a:buFont typeface="Arial" panose="020B0604020202020204" pitchFamily="34" charset="0"/>
              <a:buChar char="•"/>
            </a:pPr>
            <a:r>
              <a:rPr lang="en-US" i="1" dirty="0">
                <a:solidFill>
                  <a:srgbClr val="000000"/>
                </a:solidFill>
                <a:effectLst/>
                <a:latin typeface="Helvetica Neue"/>
              </a:rPr>
              <a:t>Age has positive Skewness (right tail) so we can use median to fill Nan values, but for this we don't like to fill Nan value just for one range of age. To handle this we'll use country column to fill Nan</a:t>
            </a:r>
            <a:endParaRPr lang="en-IN" dirty="0"/>
          </a:p>
        </p:txBody>
      </p:sp>
    </p:spTree>
    <p:extLst>
      <p:ext uri="{BB962C8B-B14F-4D97-AF65-F5344CB8AC3E}">
        <p14:creationId xmlns:p14="http://schemas.microsoft.com/office/powerpoint/2010/main" val="424846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1EF28-7785-2F95-A27F-481959602631}"/>
              </a:ext>
            </a:extLst>
          </p:cNvPr>
          <p:cNvSpPr>
            <a:spLocks noGrp="1"/>
          </p:cNvSpPr>
          <p:nvPr>
            <p:ph type="title"/>
          </p:nvPr>
        </p:nvSpPr>
        <p:spPr/>
        <p:txBody>
          <a:bodyPr/>
          <a:lstStyle/>
          <a:p>
            <a:r>
              <a:rPr lang="en-US" dirty="0"/>
              <a:t>Book Dataset</a:t>
            </a:r>
            <a:endParaRPr lang="en-IN" dirty="0"/>
          </a:p>
        </p:txBody>
      </p:sp>
      <p:pic>
        <p:nvPicPr>
          <p:cNvPr id="5" name="Content Placeholder 4">
            <a:extLst>
              <a:ext uri="{FF2B5EF4-FFF2-40B4-BE49-F238E27FC236}">
                <a16:creationId xmlns:a16="http://schemas.microsoft.com/office/drawing/2014/main" id="{B7502960-DB84-9536-65A2-4C6CE23E3E24}"/>
              </a:ext>
            </a:extLst>
          </p:cNvPr>
          <p:cNvPicPr>
            <a:picLocks noGrp="1" noChangeAspect="1"/>
          </p:cNvPicPr>
          <p:nvPr>
            <p:ph idx="1"/>
          </p:nvPr>
        </p:nvPicPr>
        <p:blipFill>
          <a:blip r:embed="rId2"/>
          <a:stretch>
            <a:fillRect/>
          </a:stretch>
        </p:blipFill>
        <p:spPr>
          <a:xfrm>
            <a:off x="1228299" y="2108200"/>
            <a:ext cx="9927381" cy="4278952"/>
          </a:xfrm>
        </p:spPr>
      </p:pic>
    </p:spTree>
    <p:extLst>
      <p:ext uri="{BB962C8B-B14F-4D97-AF65-F5344CB8AC3E}">
        <p14:creationId xmlns:p14="http://schemas.microsoft.com/office/powerpoint/2010/main" val="2950367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4E400-7BFF-084D-063B-F1DAAFDDAA17}"/>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571F1B85-66B6-ABE5-F84D-439611289F43}"/>
              </a:ext>
            </a:extLst>
          </p:cNvPr>
          <p:cNvPicPr>
            <a:picLocks noGrp="1" noChangeAspect="1"/>
          </p:cNvPicPr>
          <p:nvPr>
            <p:ph idx="1"/>
          </p:nvPr>
        </p:nvPicPr>
        <p:blipFill>
          <a:blip r:embed="rId2"/>
          <a:stretch>
            <a:fillRect/>
          </a:stretch>
        </p:blipFill>
        <p:spPr>
          <a:xfrm>
            <a:off x="1269242" y="2108200"/>
            <a:ext cx="9886438" cy="4306248"/>
          </a:xfrm>
        </p:spPr>
      </p:pic>
    </p:spTree>
    <p:extLst>
      <p:ext uri="{BB962C8B-B14F-4D97-AF65-F5344CB8AC3E}">
        <p14:creationId xmlns:p14="http://schemas.microsoft.com/office/powerpoint/2010/main" val="2100985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C993F-ACBB-2AEB-B063-DC5F4AA4FA10}"/>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48552D66-4F03-287B-75D5-E5F7EDF2A6AA}"/>
              </a:ext>
            </a:extLst>
          </p:cNvPr>
          <p:cNvPicPr>
            <a:picLocks noGrp="1" noChangeAspect="1"/>
          </p:cNvPicPr>
          <p:nvPr>
            <p:ph idx="1"/>
          </p:nvPr>
        </p:nvPicPr>
        <p:blipFill>
          <a:blip r:embed="rId2"/>
          <a:stretch>
            <a:fillRect/>
          </a:stretch>
        </p:blipFill>
        <p:spPr>
          <a:xfrm>
            <a:off x="1097280" y="2108200"/>
            <a:ext cx="10058400" cy="4306248"/>
          </a:xfrm>
        </p:spPr>
      </p:pic>
    </p:spTree>
    <p:extLst>
      <p:ext uri="{BB962C8B-B14F-4D97-AF65-F5344CB8AC3E}">
        <p14:creationId xmlns:p14="http://schemas.microsoft.com/office/powerpoint/2010/main" val="1194352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A150-1C3E-BC8A-3C23-F3BF03513DD3}"/>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73C0C2DD-6B62-49F0-49B2-ED2C1382C078}"/>
              </a:ext>
            </a:extLst>
          </p:cNvPr>
          <p:cNvPicPr>
            <a:picLocks noGrp="1" noChangeAspect="1"/>
          </p:cNvPicPr>
          <p:nvPr>
            <p:ph idx="1"/>
          </p:nvPr>
        </p:nvPicPr>
        <p:blipFill>
          <a:blip r:embed="rId2"/>
          <a:stretch>
            <a:fillRect/>
          </a:stretch>
        </p:blipFill>
        <p:spPr>
          <a:xfrm>
            <a:off x="1206112" y="2012920"/>
            <a:ext cx="9949567" cy="2641478"/>
          </a:xfrm>
        </p:spPr>
      </p:pic>
      <p:pic>
        <p:nvPicPr>
          <p:cNvPr id="9" name="Picture 8">
            <a:extLst>
              <a:ext uri="{FF2B5EF4-FFF2-40B4-BE49-F238E27FC236}">
                <a16:creationId xmlns:a16="http://schemas.microsoft.com/office/drawing/2014/main" id="{CC208F53-FFC9-E9A0-197B-28EE346917E3}"/>
              </a:ext>
            </a:extLst>
          </p:cNvPr>
          <p:cNvPicPr>
            <a:picLocks noChangeAspect="1"/>
          </p:cNvPicPr>
          <p:nvPr/>
        </p:nvPicPr>
        <p:blipFill>
          <a:blip r:embed="rId3"/>
          <a:stretch>
            <a:fillRect/>
          </a:stretch>
        </p:blipFill>
        <p:spPr>
          <a:xfrm>
            <a:off x="1206113" y="4726241"/>
            <a:ext cx="9821278" cy="1619967"/>
          </a:xfrm>
          <a:prstGeom prst="rect">
            <a:avLst/>
          </a:prstGeom>
        </p:spPr>
      </p:pic>
    </p:spTree>
    <p:extLst>
      <p:ext uri="{BB962C8B-B14F-4D97-AF65-F5344CB8AC3E}">
        <p14:creationId xmlns:p14="http://schemas.microsoft.com/office/powerpoint/2010/main" val="1635248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3C34-5A4E-CF71-1FEA-D45FDA5ED9FE}"/>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E7B4B448-9806-4E0D-0B72-B496A3AA3C83}"/>
              </a:ext>
            </a:extLst>
          </p:cNvPr>
          <p:cNvPicPr>
            <a:picLocks noGrp="1" noChangeAspect="1"/>
          </p:cNvPicPr>
          <p:nvPr>
            <p:ph idx="1"/>
          </p:nvPr>
        </p:nvPicPr>
        <p:blipFill>
          <a:blip r:embed="rId2"/>
          <a:stretch>
            <a:fillRect/>
          </a:stretch>
        </p:blipFill>
        <p:spPr>
          <a:xfrm>
            <a:off x="1097279" y="2006221"/>
            <a:ext cx="10058399" cy="4217158"/>
          </a:xfrm>
        </p:spPr>
      </p:pic>
    </p:spTree>
    <p:extLst>
      <p:ext uri="{BB962C8B-B14F-4D97-AF65-F5344CB8AC3E}">
        <p14:creationId xmlns:p14="http://schemas.microsoft.com/office/powerpoint/2010/main" val="3255137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00B64-42F0-AF21-6653-CFCEF22D8144}"/>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C6E95C7B-EBFA-499F-C90C-616AB51D79DC}"/>
              </a:ext>
            </a:extLst>
          </p:cNvPr>
          <p:cNvPicPr>
            <a:picLocks noGrp="1" noChangeAspect="1"/>
          </p:cNvPicPr>
          <p:nvPr>
            <p:ph idx="1"/>
          </p:nvPr>
        </p:nvPicPr>
        <p:blipFill>
          <a:blip r:embed="rId2"/>
          <a:stretch>
            <a:fillRect/>
          </a:stretch>
        </p:blipFill>
        <p:spPr>
          <a:xfrm>
            <a:off x="1097280" y="2019869"/>
            <a:ext cx="10058400" cy="4380931"/>
          </a:xfrm>
        </p:spPr>
      </p:pic>
    </p:spTree>
    <p:extLst>
      <p:ext uri="{BB962C8B-B14F-4D97-AF65-F5344CB8AC3E}">
        <p14:creationId xmlns:p14="http://schemas.microsoft.com/office/powerpoint/2010/main" val="2625698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90D3F-6EEA-8175-A8FF-A4FEED528C3D}"/>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80944A10-4627-69BC-B87A-6D6B407D9791}"/>
              </a:ext>
            </a:extLst>
          </p:cNvPr>
          <p:cNvPicPr>
            <a:picLocks noGrp="1" noChangeAspect="1"/>
          </p:cNvPicPr>
          <p:nvPr>
            <p:ph idx="1"/>
          </p:nvPr>
        </p:nvPicPr>
        <p:blipFill>
          <a:blip r:embed="rId2"/>
          <a:stretch>
            <a:fillRect/>
          </a:stretch>
        </p:blipFill>
        <p:spPr>
          <a:xfrm>
            <a:off x="1097280" y="2058084"/>
            <a:ext cx="9861872" cy="2486620"/>
          </a:xfrm>
        </p:spPr>
      </p:pic>
      <p:pic>
        <p:nvPicPr>
          <p:cNvPr id="7" name="Picture 6">
            <a:extLst>
              <a:ext uri="{FF2B5EF4-FFF2-40B4-BE49-F238E27FC236}">
                <a16:creationId xmlns:a16="http://schemas.microsoft.com/office/drawing/2014/main" id="{40EC85AA-9A1D-92DD-D0A0-902DCD6107EA}"/>
              </a:ext>
            </a:extLst>
          </p:cNvPr>
          <p:cNvPicPr>
            <a:picLocks noChangeAspect="1"/>
          </p:cNvPicPr>
          <p:nvPr/>
        </p:nvPicPr>
        <p:blipFill>
          <a:blip r:embed="rId3"/>
          <a:stretch>
            <a:fillRect/>
          </a:stretch>
        </p:blipFill>
        <p:spPr>
          <a:xfrm>
            <a:off x="1815152" y="4681181"/>
            <a:ext cx="8188657" cy="1619476"/>
          </a:xfrm>
          <a:prstGeom prst="rect">
            <a:avLst/>
          </a:prstGeom>
        </p:spPr>
      </p:pic>
    </p:spTree>
    <p:extLst>
      <p:ext uri="{BB962C8B-B14F-4D97-AF65-F5344CB8AC3E}">
        <p14:creationId xmlns:p14="http://schemas.microsoft.com/office/powerpoint/2010/main" val="3951692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F597-FE41-2308-3060-BAA9B62CB295}"/>
              </a:ext>
            </a:extLst>
          </p:cNvPr>
          <p:cNvSpPr>
            <a:spLocks noGrp="1"/>
          </p:cNvSpPr>
          <p:nvPr>
            <p:ph type="title"/>
          </p:nvPr>
        </p:nvSpPr>
        <p:spPr/>
        <p:txBody>
          <a:bodyPr/>
          <a:lstStyle/>
          <a:p>
            <a:r>
              <a:rPr lang="en-US" dirty="0"/>
              <a:t>Rating Dataset</a:t>
            </a:r>
            <a:endParaRPr lang="en-IN" dirty="0"/>
          </a:p>
        </p:txBody>
      </p:sp>
      <p:pic>
        <p:nvPicPr>
          <p:cNvPr id="5" name="Content Placeholder 4">
            <a:extLst>
              <a:ext uri="{FF2B5EF4-FFF2-40B4-BE49-F238E27FC236}">
                <a16:creationId xmlns:a16="http://schemas.microsoft.com/office/drawing/2014/main" id="{96A83131-D948-7AE8-5AF8-F0EFBA50DEF7}"/>
              </a:ext>
            </a:extLst>
          </p:cNvPr>
          <p:cNvPicPr>
            <a:picLocks noGrp="1" noChangeAspect="1"/>
          </p:cNvPicPr>
          <p:nvPr>
            <p:ph idx="1"/>
          </p:nvPr>
        </p:nvPicPr>
        <p:blipFill>
          <a:blip r:embed="rId2"/>
          <a:stretch>
            <a:fillRect/>
          </a:stretch>
        </p:blipFill>
        <p:spPr>
          <a:xfrm>
            <a:off x="5057275" y="2085038"/>
            <a:ext cx="6325516" cy="1163130"/>
          </a:xfrm>
        </p:spPr>
      </p:pic>
      <p:sp>
        <p:nvSpPr>
          <p:cNvPr id="6" name="TextBox 5">
            <a:extLst>
              <a:ext uri="{FF2B5EF4-FFF2-40B4-BE49-F238E27FC236}">
                <a16:creationId xmlns:a16="http://schemas.microsoft.com/office/drawing/2014/main" id="{C9F227C9-C269-C702-F827-FE92D48B1971}"/>
              </a:ext>
            </a:extLst>
          </p:cNvPr>
          <p:cNvSpPr txBox="1"/>
          <p:nvPr/>
        </p:nvSpPr>
        <p:spPr>
          <a:xfrm>
            <a:off x="1097280" y="2065442"/>
            <a:ext cx="3433777" cy="2862322"/>
          </a:xfrm>
          <a:prstGeom prst="rect">
            <a:avLst/>
          </a:prstGeom>
          <a:noFill/>
        </p:spPr>
        <p:txBody>
          <a:bodyPr wrap="square" rtlCol="0">
            <a:spAutoFit/>
          </a:bodyPr>
          <a:lstStyle/>
          <a:p>
            <a:pPr marL="285750" indent="-285750">
              <a:buFont typeface="Arial" panose="020B0604020202020204" pitchFamily="34" charset="0"/>
              <a:buChar char="•"/>
            </a:pPr>
            <a:r>
              <a:rPr lang="en-US" i="0" dirty="0">
                <a:solidFill>
                  <a:srgbClr val="000000"/>
                </a:solidFill>
                <a:effectLst/>
                <a:latin typeface="Helvetica Neue"/>
              </a:rPr>
              <a:t>It can be seen that many rows having book ISBN not part of books dataset, got dropped off.</a:t>
            </a:r>
          </a:p>
          <a:p>
            <a:pPr marL="285750" indent="-285750">
              <a:buFont typeface="Arial" panose="020B0604020202020204" pitchFamily="34" charset="0"/>
              <a:buChar char="•"/>
            </a:pPr>
            <a:r>
              <a:rPr lang="en-US" i="0" dirty="0">
                <a:solidFill>
                  <a:srgbClr val="000000"/>
                </a:solidFill>
                <a:effectLst/>
                <a:latin typeface="Helvetica Neue"/>
              </a:rPr>
              <a:t>Ratings dataset should have ratings from users which exist in users dataset.</a:t>
            </a:r>
            <a:endParaRPr lang="en-US" dirty="0">
              <a:solidFill>
                <a:srgbClr val="000000"/>
              </a:solidFill>
              <a:latin typeface="Helvetica Neue"/>
            </a:endParaRPr>
          </a:p>
          <a:p>
            <a:pPr marL="285750" indent="-285750">
              <a:buFont typeface="Arial" panose="020B0604020202020204" pitchFamily="34" charset="0"/>
              <a:buChar char="•"/>
            </a:pPr>
            <a:r>
              <a:rPr lang="en-US" i="0" dirty="0">
                <a:solidFill>
                  <a:srgbClr val="000000"/>
                </a:solidFill>
                <a:effectLst/>
                <a:latin typeface="Helvetica Neue"/>
              </a:rPr>
              <a:t>It can be seen that no new user was there in ratings dataset.</a:t>
            </a:r>
            <a:endParaRPr lang="en-IN" dirty="0"/>
          </a:p>
        </p:txBody>
      </p:sp>
      <p:pic>
        <p:nvPicPr>
          <p:cNvPr id="8" name="Picture 7">
            <a:extLst>
              <a:ext uri="{FF2B5EF4-FFF2-40B4-BE49-F238E27FC236}">
                <a16:creationId xmlns:a16="http://schemas.microsoft.com/office/drawing/2014/main" id="{69929061-7D4F-2615-7617-53F2594F8A14}"/>
              </a:ext>
            </a:extLst>
          </p:cNvPr>
          <p:cNvPicPr>
            <a:picLocks noChangeAspect="1"/>
          </p:cNvPicPr>
          <p:nvPr/>
        </p:nvPicPr>
        <p:blipFill>
          <a:blip r:embed="rId3"/>
          <a:stretch>
            <a:fillRect/>
          </a:stretch>
        </p:blipFill>
        <p:spPr>
          <a:xfrm>
            <a:off x="5178656" y="3609833"/>
            <a:ext cx="5977024" cy="1373894"/>
          </a:xfrm>
          <a:prstGeom prst="rect">
            <a:avLst/>
          </a:prstGeom>
        </p:spPr>
      </p:pic>
    </p:spTree>
    <p:extLst>
      <p:ext uri="{BB962C8B-B14F-4D97-AF65-F5344CB8AC3E}">
        <p14:creationId xmlns:p14="http://schemas.microsoft.com/office/powerpoint/2010/main" val="2843115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9B681-6721-7720-33E5-9ECCEB15C9D8}"/>
              </a:ext>
            </a:extLst>
          </p:cNvPr>
          <p:cNvSpPr>
            <a:spLocks noGrp="1"/>
          </p:cNvSpPr>
          <p:nvPr>
            <p:ph type="title"/>
          </p:nvPr>
        </p:nvSpPr>
        <p:spPr/>
        <p:txBody>
          <a:bodyPr/>
          <a:lstStyle/>
          <a:p>
            <a:r>
              <a:rPr lang="en-US" dirty="0"/>
              <a:t>Book rating </a:t>
            </a:r>
            <a:r>
              <a:rPr lang="en-US" dirty="0" err="1"/>
              <a:t>distribustion</a:t>
            </a:r>
            <a:endParaRPr lang="en-IN" dirty="0"/>
          </a:p>
        </p:txBody>
      </p:sp>
      <p:pic>
        <p:nvPicPr>
          <p:cNvPr id="5" name="Content Placeholder 4">
            <a:extLst>
              <a:ext uri="{FF2B5EF4-FFF2-40B4-BE49-F238E27FC236}">
                <a16:creationId xmlns:a16="http://schemas.microsoft.com/office/drawing/2014/main" id="{B4B5D906-E316-B6DF-C035-DFBB99851ED3}"/>
              </a:ext>
            </a:extLst>
          </p:cNvPr>
          <p:cNvPicPr>
            <a:picLocks noGrp="1" noChangeAspect="1"/>
          </p:cNvPicPr>
          <p:nvPr>
            <p:ph idx="1"/>
          </p:nvPr>
        </p:nvPicPr>
        <p:blipFill>
          <a:blip r:embed="rId2"/>
          <a:stretch>
            <a:fillRect/>
          </a:stretch>
        </p:blipFill>
        <p:spPr>
          <a:xfrm>
            <a:off x="4053385" y="1997419"/>
            <a:ext cx="7673363" cy="4321494"/>
          </a:xfrm>
        </p:spPr>
      </p:pic>
      <p:sp>
        <p:nvSpPr>
          <p:cNvPr id="6" name="TextBox 5">
            <a:extLst>
              <a:ext uri="{FF2B5EF4-FFF2-40B4-BE49-F238E27FC236}">
                <a16:creationId xmlns:a16="http://schemas.microsoft.com/office/drawing/2014/main" id="{F34A52D3-C21C-6D47-B224-5DE9091DF637}"/>
              </a:ext>
            </a:extLst>
          </p:cNvPr>
          <p:cNvSpPr txBox="1"/>
          <p:nvPr/>
        </p:nvSpPr>
        <p:spPr>
          <a:xfrm>
            <a:off x="1097280" y="2006221"/>
            <a:ext cx="2956105" cy="3139321"/>
          </a:xfrm>
          <a:prstGeom prst="rect">
            <a:avLst/>
          </a:prstGeom>
          <a:noFill/>
        </p:spPr>
        <p:txBody>
          <a:bodyPr wrap="square" rtlCol="0">
            <a:spAutoFit/>
          </a:bodyPr>
          <a:lstStyle/>
          <a:p>
            <a:pPr marL="285750" indent="-285750">
              <a:buFont typeface="Arial" panose="020B0604020202020204" pitchFamily="34" charset="0"/>
              <a:buChar char="•"/>
            </a:pPr>
            <a:r>
              <a:rPr lang="en-US" i="1" dirty="0">
                <a:solidFill>
                  <a:srgbClr val="000000"/>
                </a:solidFill>
                <a:effectLst/>
                <a:latin typeface="Helvetica Neue"/>
              </a:rPr>
              <a:t>The ratings are very unevenly distributed. Ratings are either explicit, expressed on a scale from 1-10 higher values denoting higher appreciation, or implicit, expressed by 0.</a:t>
            </a:r>
          </a:p>
          <a:p>
            <a:pPr marL="285750" indent="-285750">
              <a:buFont typeface="Arial" panose="020B0604020202020204" pitchFamily="34" charset="0"/>
              <a:buChar char="•"/>
            </a:pPr>
            <a:r>
              <a:rPr lang="en-US" i="1" dirty="0">
                <a:solidFill>
                  <a:srgbClr val="000000"/>
                </a:solidFill>
                <a:effectLst/>
                <a:latin typeface="Helvetica Neue"/>
              </a:rPr>
              <a:t>Hence we have to segregate implicit and explicit ratings datasets.</a:t>
            </a:r>
            <a:endParaRPr lang="en-IN" dirty="0"/>
          </a:p>
        </p:txBody>
      </p:sp>
    </p:spTree>
    <p:extLst>
      <p:ext uri="{BB962C8B-B14F-4D97-AF65-F5344CB8AC3E}">
        <p14:creationId xmlns:p14="http://schemas.microsoft.com/office/powerpoint/2010/main" val="807076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9698B-C713-CB88-0CE1-230D5E2DE14C}"/>
              </a:ext>
            </a:extLst>
          </p:cNvPr>
          <p:cNvSpPr>
            <a:spLocks noGrp="1"/>
          </p:cNvSpPr>
          <p:nvPr>
            <p:ph type="title"/>
          </p:nvPr>
        </p:nvSpPr>
        <p:spPr>
          <a:xfrm>
            <a:off x="1097280" y="286603"/>
            <a:ext cx="10058400" cy="1460309"/>
          </a:xfrm>
        </p:spPr>
        <p:txBody>
          <a:bodyPr/>
          <a:lstStyle/>
          <a:p>
            <a:r>
              <a:rPr lang="en-US" dirty="0"/>
              <a:t>Explicit Book Rating distribution</a:t>
            </a:r>
            <a:endParaRPr lang="en-IN" dirty="0"/>
          </a:p>
        </p:txBody>
      </p:sp>
      <p:pic>
        <p:nvPicPr>
          <p:cNvPr id="5" name="Content Placeholder 4">
            <a:extLst>
              <a:ext uri="{FF2B5EF4-FFF2-40B4-BE49-F238E27FC236}">
                <a16:creationId xmlns:a16="http://schemas.microsoft.com/office/drawing/2014/main" id="{E9468751-CE7C-EA1F-4F82-D7D797D4B3A1}"/>
              </a:ext>
            </a:extLst>
          </p:cNvPr>
          <p:cNvPicPr>
            <a:picLocks noGrp="1" noChangeAspect="1"/>
          </p:cNvPicPr>
          <p:nvPr>
            <p:ph idx="1"/>
          </p:nvPr>
        </p:nvPicPr>
        <p:blipFill>
          <a:blip r:embed="rId2"/>
          <a:stretch>
            <a:fillRect/>
          </a:stretch>
        </p:blipFill>
        <p:spPr>
          <a:xfrm>
            <a:off x="1097281" y="2105161"/>
            <a:ext cx="10058400" cy="4036332"/>
          </a:xfrm>
        </p:spPr>
      </p:pic>
    </p:spTree>
    <p:extLst>
      <p:ext uri="{BB962C8B-B14F-4D97-AF65-F5344CB8AC3E}">
        <p14:creationId xmlns:p14="http://schemas.microsoft.com/office/powerpoint/2010/main" val="715126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BA29-1585-8507-C502-9D17AEA7F666}"/>
              </a:ext>
            </a:extLst>
          </p:cNvPr>
          <p:cNvSpPr>
            <a:spLocks noGrp="1"/>
          </p:cNvSpPr>
          <p:nvPr>
            <p:ph type="title"/>
          </p:nvPr>
        </p:nvSpPr>
        <p:spPr/>
        <p:txBody>
          <a:bodyPr/>
          <a:lstStyle/>
          <a:p>
            <a:r>
              <a:rPr lang="en-US" dirty="0"/>
              <a:t>Top 5 books rated by most number of users.</a:t>
            </a:r>
            <a:endParaRPr lang="en-IN" dirty="0"/>
          </a:p>
        </p:txBody>
      </p:sp>
      <p:pic>
        <p:nvPicPr>
          <p:cNvPr id="5" name="Content Placeholder 4">
            <a:extLst>
              <a:ext uri="{FF2B5EF4-FFF2-40B4-BE49-F238E27FC236}">
                <a16:creationId xmlns:a16="http://schemas.microsoft.com/office/drawing/2014/main" id="{F51A056C-5A20-0E96-2904-2456BADD3008}"/>
              </a:ext>
            </a:extLst>
          </p:cNvPr>
          <p:cNvPicPr>
            <a:picLocks noGrp="1" noChangeAspect="1"/>
          </p:cNvPicPr>
          <p:nvPr>
            <p:ph idx="1"/>
          </p:nvPr>
        </p:nvPicPr>
        <p:blipFill>
          <a:blip r:embed="rId2"/>
          <a:stretch>
            <a:fillRect/>
          </a:stretch>
        </p:blipFill>
        <p:spPr>
          <a:xfrm>
            <a:off x="3480179" y="2006221"/>
            <a:ext cx="7942997" cy="4299043"/>
          </a:xfrm>
        </p:spPr>
      </p:pic>
      <p:sp>
        <p:nvSpPr>
          <p:cNvPr id="6" name="TextBox 5">
            <a:extLst>
              <a:ext uri="{FF2B5EF4-FFF2-40B4-BE49-F238E27FC236}">
                <a16:creationId xmlns:a16="http://schemas.microsoft.com/office/drawing/2014/main" id="{2A6DD845-1A93-FCFC-2B93-7EDCBBA64E19}"/>
              </a:ext>
            </a:extLst>
          </p:cNvPr>
          <p:cNvSpPr txBox="1"/>
          <p:nvPr/>
        </p:nvSpPr>
        <p:spPr>
          <a:xfrm>
            <a:off x="928048" y="2006221"/>
            <a:ext cx="2552131" cy="3785652"/>
          </a:xfrm>
          <a:prstGeom prst="rect">
            <a:avLst/>
          </a:prstGeom>
          <a:noFill/>
        </p:spPr>
        <p:txBody>
          <a:bodyPr wrap="square" rtlCol="0">
            <a:spAutoFit/>
          </a:bodyPr>
          <a:lstStyle/>
          <a:p>
            <a:pPr marL="285750" indent="-285750">
              <a:buFont typeface="Arial" panose="020B0604020202020204" pitchFamily="34" charset="0"/>
              <a:buChar char="•"/>
            </a:pPr>
            <a:r>
              <a:rPr lang="en-US" sz="1600" i="1" dirty="0">
                <a:solidFill>
                  <a:srgbClr val="000000"/>
                </a:solidFill>
                <a:effectLst/>
                <a:latin typeface="Helvetica Neue"/>
              </a:rPr>
              <a:t>The book that received the most rating counts in this data set is Rich </a:t>
            </a:r>
            <a:r>
              <a:rPr lang="en-US" sz="1600" i="1" dirty="0" err="1">
                <a:solidFill>
                  <a:srgbClr val="000000"/>
                </a:solidFill>
                <a:effectLst/>
                <a:latin typeface="Helvetica Neue"/>
              </a:rPr>
              <a:t>Shapero’s</a:t>
            </a:r>
            <a:r>
              <a:rPr lang="en-US" sz="1600" i="1" dirty="0">
                <a:solidFill>
                  <a:srgbClr val="000000"/>
                </a:solidFill>
                <a:effectLst/>
                <a:latin typeface="Helvetica Neue"/>
              </a:rPr>
              <a:t> “Wild Animus”. </a:t>
            </a:r>
            <a:endParaRPr lang="en-US" sz="1600" i="1" dirty="0">
              <a:solidFill>
                <a:srgbClr val="000000"/>
              </a:solidFill>
              <a:latin typeface="Helvetica Neue"/>
            </a:endParaRPr>
          </a:p>
          <a:p>
            <a:pPr marL="285750" indent="-285750">
              <a:buFont typeface="Arial" panose="020B0604020202020204" pitchFamily="34" charset="0"/>
              <a:buChar char="•"/>
            </a:pPr>
            <a:r>
              <a:rPr lang="en-US" sz="1600" i="1" dirty="0">
                <a:solidFill>
                  <a:srgbClr val="000000"/>
                </a:solidFill>
                <a:latin typeface="Helvetica Neue"/>
              </a:rPr>
              <a:t>T</a:t>
            </a:r>
            <a:r>
              <a:rPr lang="en-US" sz="1600" i="1" dirty="0">
                <a:solidFill>
                  <a:srgbClr val="000000"/>
                </a:solidFill>
                <a:effectLst/>
                <a:latin typeface="Helvetica Neue"/>
              </a:rPr>
              <a:t>here is something in common among these five books that received the most rating counts — they are all novels. </a:t>
            </a:r>
          </a:p>
          <a:p>
            <a:pPr marL="285750" indent="-285750">
              <a:buFont typeface="Arial" panose="020B0604020202020204" pitchFamily="34" charset="0"/>
              <a:buChar char="•"/>
            </a:pPr>
            <a:r>
              <a:rPr lang="en-US" sz="1600" i="1" dirty="0">
                <a:solidFill>
                  <a:srgbClr val="000000"/>
                </a:solidFill>
                <a:effectLst/>
                <a:latin typeface="Helvetica Neue"/>
              </a:rPr>
              <a:t>So it is conclusive that novels are popular and likely receive more ratings.</a:t>
            </a:r>
            <a:endParaRPr lang="en-IN" sz="1600" dirty="0"/>
          </a:p>
        </p:txBody>
      </p:sp>
    </p:spTree>
    <p:extLst>
      <p:ext uri="{BB962C8B-B14F-4D97-AF65-F5344CB8AC3E}">
        <p14:creationId xmlns:p14="http://schemas.microsoft.com/office/powerpoint/2010/main" val="3189407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C6F0C-679A-45FC-0C61-DF79206A96A3}"/>
              </a:ext>
            </a:extLst>
          </p:cNvPr>
          <p:cNvSpPr>
            <a:spLocks noGrp="1"/>
          </p:cNvSpPr>
          <p:nvPr>
            <p:ph type="title"/>
          </p:nvPr>
        </p:nvSpPr>
        <p:spPr/>
        <p:txBody>
          <a:bodyPr/>
          <a:lstStyle/>
          <a:p>
            <a:r>
              <a:rPr lang="en-US" dirty="0"/>
              <a:t>Average Rating </a:t>
            </a:r>
            <a:endParaRPr lang="en-IN" dirty="0"/>
          </a:p>
        </p:txBody>
      </p:sp>
      <p:pic>
        <p:nvPicPr>
          <p:cNvPr id="5" name="Content Placeholder 4">
            <a:extLst>
              <a:ext uri="{FF2B5EF4-FFF2-40B4-BE49-F238E27FC236}">
                <a16:creationId xmlns:a16="http://schemas.microsoft.com/office/drawing/2014/main" id="{A9542047-9C6A-E26D-FCF7-DED1DEB9A071}"/>
              </a:ext>
            </a:extLst>
          </p:cNvPr>
          <p:cNvPicPr>
            <a:picLocks noGrp="1" noChangeAspect="1"/>
          </p:cNvPicPr>
          <p:nvPr>
            <p:ph idx="1"/>
          </p:nvPr>
        </p:nvPicPr>
        <p:blipFill>
          <a:blip r:embed="rId2"/>
          <a:stretch>
            <a:fillRect/>
          </a:stretch>
        </p:blipFill>
        <p:spPr>
          <a:xfrm>
            <a:off x="1097280" y="1956975"/>
            <a:ext cx="10167581" cy="4290907"/>
          </a:xfrm>
        </p:spPr>
      </p:pic>
    </p:spTree>
    <p:extLst>
      <p:ext uri="{BB962C8B-B14F-4D97-AF65-F5344CB8AC3E}">
        <p14:creationId xmlns:p14="http://schemas.microsoft.com/office/powerpoint/2010/main" val="3785745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AB12-0909-2152-4FFD-4DE9157690D2}"/>
              </a:ext>
            </a:extLst>
          </p:cNvPr>
          <p:cNvSpPr>
            <a:spLocks noGrp="1"/>
          </p:cNvSpPr>
          <p:nvPr>
            <p:ph type="title"/>
          </p:nvPr>
        </p:nvSpPr>
        <p:spPr/>
        <p:txBody>
          <a:bodyPr/>
          <a:lstStyle/>
          <a:p>
            <a:r>
              <a:rPr lang="en-US" dirty="0"/>
              <a:t>Merging all datasets</a:t>
            </a:r>
            <a:endParaRPr lang="en-IN" dirty="0"/>
          </a:p>
        </p:txBody>
      </p:sp>
      <p:pic>
        <p:nvPicPr>
          <p:cNvPr id="5" name="Content Placeholder 4">
            <a:extLst>
              <a:ext uri="{FF2B5EF4-FFF2-40B4-BE49-F238E27FC236}">
                <a16:creationId xmlns:a16="http://schemas.microsoft.com/office/drawing/2014/main" id="{AE2A207D-62E0-B57F-1479-2B045FC310BB}"/>
              </a:ext>
            </a:extLst>
          </p:cNvPr>
          <p:cNvPicPr>
            <a:picLocks noGrp="1" noChangeAspect="1"/>
          </p:cNvPicPr>
          <p:nvPr>
            <p:ph idx="1"/>
          </p:nvPr>
        </p:nvPicPr>
        <p:blipFill>
          <a:blip r:embed="rId2"/>
          <a:stretch>
            <a:fillRect/>
          </a:stretch>
        </p:blipFill>
        <p:spPr>
          <a:xfrm>
            <a:off x="1310185" y="2183641"/>
            <a:ext cx="9198591" cy="4135271"/>
          </a:xfrm>
        </p:spPr>
      </p:pic>
    </p:spTree>
    <p:extLst>
      <p:ext uri="{BB962C8B-B14F-4D97-AF65-F5344CB8AC3E}">
        <p14:creationId xmlns:p14="http://schemas.microsoft.com/office/powerpoint/2010/main" val="3547365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C4D3-D432-5F9A-4E2C-6263124605CB}"/>
              </a:ext>
            </a:extLst>
          </p:cNvPr>
          <p:cNvSpPr>
            <a:spLocks noGrp="1"/>
          </p:cNvSpPr>
          <p:nvPr>
            <p:ph type="title"/>
          </p:nvPr>
        </p:nvSpPr>
        <p:spPr/>
        <p:txBody>
          <a:bodyPr/>
          <a:lstStyle/>
          <a:p>
            <a:r>
              <a:rPr lang="en-US" dirty="0"/>
              <a:t>Continue…</a:t>
            </a:r>
            <a:endParaRPr lang="en-IN" dirty="0"/>
          </a:p>
        </p:txBody>
      </p:sp>
      <p:pic>
        <p:nvPicPr>
          <p:cNvPr id="5" name="Content Placeholder 4">
            <a:extLst>
              <a:ext uri="{FF2B5EF4-FFF2-40B4-BE49-F238E27FC236}">
                <a16:creationId xmlns:a16="http://schemas.microsoft.com/office/drawing/2014/main" id="{031A66A2-B68C-F73B-B4E7-3BFD081F6BD8}"/>
              </a:ext>
            </a:extLst>
          </p:cNvPr>
          <p:cNvPicPr>
            <a:picLocks noGrp="1" noChangeAspect="1"/>
          </p:cNvPicPr>
          <p:nvPr>
            <p:ph idx="1"/>
          </p:nvPr>
        </p:nvPicPr>
        <p:blipFill>
          <a:blip r:embed="rId2"/>
          <a:stretch>
            <a:fillRect/>
          </a:stretch>
        </p:blipFill>
        <p:spPr>
          <a:xfrm>
            <a:off x="982638" y="1910687"/>
            <a:ext cx="10173041" cy="4094328"/>
          </a:xfrm>
        </p:spPr>
      </p:pic>
    </p:spTree>
    <p:extLst>
      <p:ext uri="{BB962C8B-B14F-4D97-AF65-F5344CB8AC3E}">
        <p14:creationId xmlns:p14="http://schemas.microsoft.com/office/powerpoint/2010/main" val="2626151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20C62E-C3F2-FD30-7F2E-460328C37E24}"/>
              </a:ext>
            </a:extLst>
          </p:cNvPr>
          <p:cNvSpPr txBox="1"/>
          <p:nvPr/>
        </p:nvSpPr>
        <p:spPr>
          <a:xfrm>
            <a:off x="4162569" y="2505670"/>
            <a:ext cx="4189862" cy="923330"/>
          </a:xfrm>
          <a:prstGeom prst="rect">
            <a:avLst/>
          </a:prstGeom>
          <a:noFill/>
        </p:spPr>
        <p:txBody>
          <a:bodyPr wrap="square" rtlCol="0">
            <a:spAutoFit/>
          </a:bodyPr>
          <a:lstStyle/>
          <a:p>
            <a:r>
              <a:rPr lang="en-US" sz="5400" dirty="0">
                <a:latin typeface="Algerian" panose="04020705040A02060702" pitchFamily="82" charset="0"/>
              </a:rPr>
              <a:t>THANK YOU </a:t>
            </a:r>
            <a:endParaRPr lang="en-IN" sz="5400" dirty="0">
              <a:latin typeface="Algerian" panose="04020705040A02060702" pitchFamily="82" charset="0"/>
            </a:endParaRPr>
          </a:p>
        </p:txBody>
      </p:sp>
    </p:spTree>
    <p:extLst>
      <p:ext uri="{BB962C8B-B14F-4D97-AF65-F5344CB8AC3E}">
        <p14:creationId xmlns:p14="http://schemas.microsoft.com/office/powerpoint/2010/main" val="3846698348"/>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{09EFEEC8-A072-4236-98B0-D0D1E3EE7BF8}tf22712842_win32</Template>
  <TotalTime>486</TotalTime>
  <Words>320</Words>
  <Application>Microsoft Office PowerPoint</Application>
  <PresentationFormat>Widescreen</PresentationFormat>
  <Paragraphs>43</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Algerian</vt:lpstr>
      <vt:lpstr>Arial</vt:lpstr>
      <vt:lpstr>Bookman Old Style</vt:lpstr>
      <vt:lpstr>Calibri</vt:lpstr>
      <vt:lpstr>Franklin Gothic Book</vt:lpstr>
      <vt:lpstr>Franklin Gothic Medium</vt:lpstr>
      <vt:lpstr>Helvetica Neue</vt:lpstr>
      <vt:lpstr>1_RetrospectVTI</vt:lpstr>
      <vt:lpstr>Book Recommendation System</vt:lpstr>
      <vt:lpstr> Datasets Overview</vt:lpstr>
      <vt:lpstr>Operations on dataset</vt:lpstr>
      <vt:lpstr>Details of datasets</vt:lpstr>
      <vt:lpstr>User Dataset</vt:lpstr>
      <vt:lpstr>Continue…</vt:lpstr>
      <vt:lpstr>Country-wise user count</vt:lpstr>
      <vt:lpstr>Age distribution Plot</vt:lpstr>
      <vt:lpstr>Book Dataset</vt:lpstr>
      <vt:lpstr>Continue…</vt:lpstr>
      <vt:lpstr>Continue…</vt:lpstr>
      <vt:lpstr>Continue…</vt:lpstr>
      <vt:lpstr>Continue…</vt:lpstr>
      <vt:lpstr>Continue…</vt:lpstr>
      <vt:lpstr>Continue…</vt:lpstr>
      <vt:lpstr>Rating Dataset</vt:lpstr>
      <vt:lpstr>Book rating distribustion</vt:lpstr>
      <vt:lpstr>Explicit Book Rating distribution</vt:lpstr>
      <vt:lpstr>Top 5 books rated by most number of users.</vt:lpstr>
      <vt:lpstr>Average Rating </vt:lpstr>
      <vt:lpstr>Merging all datasets</vt:lpstr>
      <vt:lpstr>Continue…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Recommendation System</dc:title>
  <dc:creator>Dell</dc:creator>
  <cp:lastModifiedBy>Dell</cp:lastModifiedBy>
  <cp:revision>5</cp:revision>
  <dcterms:created xsi:type="dcterms:W3CDTF">2023-05-16T14:06:52Z</dcterms:created>
  <dcterms:modified xsi:type="dcterms:W3CDTF">2023-05-17T14:41:17Z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